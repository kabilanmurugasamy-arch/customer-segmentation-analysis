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charts/chart8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67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02809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Sheet1!$A$2:$A$8</c:f>
              <c:strCache>
                <c:ptCount val="7"/>
                <c:pt idx="0">
                  <c:v>Outerwear</c:v>
                </c:pt>
                <c:pt idx="1">
                  <c:v>Footwear</c:v>
                </c:pt>
                <c:pt idx="2">
                  <c:v>Sports</c:v>
                </c:pt>
                <c:pt idx="3">
                  <c:v>Electronics</c:v>
                </c:pt>
                <c:pt idx="4">
                  <c:v>Home Decor</c:v>
                </c:pt>
                <c:pt idx="5">
                  <c:v>Accessories</c:v>
                </c:pt>
                <c:pt idx="6">
                  <c:v>Clothing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2.0000000000000004E-2</c:v>
                </c:pt>
                <c:pt idx="1">
                  <c:v>4.0000000000000008E-2</c:v>
                </c:pt>
                <c:pt idx="2">
                  <c:v>0.19</c:v>
                </c:pt>
                <c:pt idx="3">
                  <c:v>0.19</c:v>
                </c:pt>
                <c:pt idx="4">
                  <c:v>0.2</c:v>
                </c:pt>
                <c:pt idx="5">
                  <c:v>0.28000000000000003</c:v>
                </c:pt>
                <c:pt idx="6">
                  <c:v>0.31000000000000005</c:v>
                </c:pt>
              </c:numCache>
            </c:numRef>
          </c:val>
        </c:ser>
        <c:dLbls>
          <c:showVal val="1"/>
        </c:dLbls>
        <c:axId val="69229184"/>
        <c:axId val="102888192"/>
      </c:barChart>
      <c:catAx>
        <c:axId val="6922918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102888192"/>
        <c:crosses val="autoZero"/>
        <c:auto val="1"/>
        <c:lblAlgn val="ctr"/>
        <c:lblOffset val="100"/>
        <c:noMultiLvlLbl val="1"/>
      </c:catAx>
      <c:valAx>
        <c:axId val="102888192"/>
        <c:scaling>
          <c:orientation val="minMax"/>
        </c:scaling>
        <c:delete val="1"/>
        <c:axPos val="b"/>
        <c:numFmt formatCode="General" sourceLinked="0"/>
        <c:tickLblPos val="low"/>
        <c:crossAx val="6922918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0C2D5C"/>
              </a:solidFill>
              <a:effectLst/>
            </c:spPr>
          </c:dPt>
          <c:dPt>
            <c:idx val="1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layout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Val val="1"/>
            </c:dLbl>
            <c:dLbl>
              <c:idx val="1"/>
              <c:layout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Val val="1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CatName val="1"/>
            <c:showPercent val="1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53.7</c:v>
                </c:pt>
                <c:pt idx="1">
                  <c:v>46.3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spPr>
            <a:solidFill>
              <a:srgbClr val="6B5CA5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Fall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331</c:v>
                </c:pt>
                <c:pt idx="1">
                  <c:v>314</c:v>
                </c:pt>
                <c:pt idx="2">
                  <c:v>302</c:v>
                </c:pt>
                <c:pt idx="3">
                  <c:v>283</c:v>
                </c:pt>
              </c:numCache>
            </c:numRef>
          </c:val>
        </c:ser>
        <c:dLbls>
          <c:showVal val="1"/>
        </c:dLbls>
        <c:axId val="168726912"/>
        <c:axId val="168728832"/>
      </c:barChart>
      <c:catAx>
        <c:axId val="16872691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8728832"/>
        <c:crosses val="autoZero"/>
        <c:auto val="1"/>
        <c:lblAlgn val="ctr"/>
        <c:lblOffset val="100"/>
        <c:noMultiLvlLbl val="1"/>
      </c:catAx>
      <c:valAx>
        <c:axId val="168728832"/>
        <c:scaling>
          <c:orientation val="minMax"/>
        </c:scaling>
        <c:delete val="1"/>
        <c:axPos val="l"/>
        <c:numFmt formatCode="General" sourceLinked="0"/>
        <c:tickLblPos val="nextTo"/>
        <c:crossAx val="168726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Discounts Applied</c:v>
                </c:pt>
              </c:strCache>
            </c:strRef>
          </c:tx>
          <c:spPr>
            <a:solidFill>
              <a:srgbClr val="E15554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Sheet1!$A$2:$A$8</c:f>
              <c:strCache>
                <c:ptCount val="7"/>
                <c:pt idx="0">
                  <c:v>Outerwear</c:v>
                </c:pt>
                <c:pt idx="1">
                  <c:v>Footwear</c:v>
                </c:pt>
                <c:pt idx="2">
                  <c:v>Home Decor</c:v>
                </c:pt>
                <c:pt idx="3">
                  <c:v>Electronics</c:v>
                </c:pt>
                <c:pt idx="4">
                  <c:v>Sports</c:v>
                </c:pt>
                <c:pt idx="5">
                  <c:v>Accessories</c:v>
                </c:pt>
                <c:pt idx="6">
                  <c:v>Clothing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144</c:v>
                </c:pt>
                <c:pt idx="1">
                  <c:v>259</c:v>
                </c:pt>
                <c:pt idx="2">
                  <c:v>357</c:v>
                </c:pt>
                <c:pt idx="3">
                  <c:v>373</c:v>
                </c:pt>
                <c:pt idx="4">
                  <c:v>386</c:v>
                </c:pt>
                <c:pt idx="5">
                  <c:v>950</c:v>
                </c:pt>
                <c:pt idx="6">
                  <c:v>1102</c:v>
                </c:pt>
              </c:numCache>
            </c:numRef>
          </c:val>
        </c:ser>
        <c:dLbls>
          <c:showVal val="1"/>
        </c:dLbls>
        <c:axId val="12037504"/>
        <c:axId val="12051584"/>
      </c:barChart>
      <c:catAx>
        <c:axId val="1203750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051584"/>
        <c:crosses val="autoZero"/>
        <c:auto val="1"/>
        <c:lblAlgn val="ctr"/>
        <c:lblOffset val="100"/>
        <c:noMultiLvlLbl val="1"/>
      </c:catAx>
      <c:valAx>
        <c:axId val="12051584"/>
        <c:scaling>
          <c:orientation val="minMax"/>
        </c:scaling>
        <c:delete val="1"/>
        <c:axPos val="b"/>
        <c:numFmt formatCode="General" sourceLinked="0"/>
        <c:tickLblPos val="low"/>
        <c:crossAx val="12037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ln w="31750" cap="flat">
              <a:solidFill>
                <a:srgbClr val="3BB27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BB273"/>
              </a:solidFill>
              <a:ln w="9525" cap="flat">
                <a:solidFill>
                  <a:srgbClr val="3BB27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Val val="1"/>
          </c:dLbls>
          <c:cat>
            <c:strRef>
              <c:f>Sheet1!$A$2:$A$8</c:f>
              <c:strCache>
                <c:ptCount val="7"/>
                <c:pt idx="0">
                  <c:v>Home Decor</c:v>
                </c:pt>
                <c:pt idx="1">
                  <c:v>Electronics</c:v>
                </c:pt>
                <c:pt idx="2">
                  <c:v>Sports</c:v>
                </c:pt>
                <c:pt idx="3">
                  <c:v>Accessories</c:v>
                </c:pt>
                <c:pt idx="4">
                  <c:v>Clothing</c:v>
                </c:pt>
                <c:pt idx="5">
                  <c:v>Outerwear</c:v>
                </c:pt>
                <c:pt idx="6">
                  <c:v>Footwear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2.98</c:v>
                </c:pt>
                <c:pt idx="1">
                  <c:v>3.06</c:v>
                </c:pt>
                <c:pt idx="2">
                  <c:v>3.08</c:v>
                </c:pt>
                <c:pt idx="3">
                  <c:v>3.4699999999999998</c:v>
                </c:pt>
                <c:pt idx="4">
                  <c:v>3.51</c:v>
                </c:pt>
                <c:pt idx="5">
                  <c:v>3.75</c:v>
                </c:pt>
                <c:pt idx="6">
                  <c:v>3.79</c:v>
                </c:pt>
              </c:numCache>
            </c:numRef>
          </c:val>
        </c:ser>
        <c:dLbls>
          <c:showVal val="1"/>
        </c:dLbls>
        <c:marker val="1"/>
        <c:axId val="12108160"/>
        <c:axId val="12109696"/>
      </c:lineChart>
      <c:catAx>
        <c:axId val="1210816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109696"/>
        <c:crosses val="autoZero"/>
        <c:auto val="1"/>
        <c:lblAlgn val="ctr"/>
        <c:lblOffset val="100"/>
        <c:noMultiLvlLbl val="1"/>
      </c:catAx>
      <c:valAx>
        <c:axId val="12109696"/>
        <c:scaling>
          <c:orientation val="minMax"/>
        </c:scaling>
        <c:delete val="1"/>
        <c:axPos val="l"/>
        <c:numFmt formatCode="General" sourceLinked="0"/>
        <c:tickLblPos val="nextTo"/>
        <c:crossAx val="12108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Amount (M)</c:v>
                </c:pt>
              </c:strCache>
            </c:strRef>
          </c:tx>
          <c:spPr>
            <a:solidFill>
              <a:srgbClr val="02809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Below 20</c:v>
                </c:pt>
                <c:pt idx="1">
                  <c:v>60+</c:v>
                </c:pt>
                <c:pt idx="2">
                  <c:v>30s</c:v>
                </c:pt>
                <c:pt idx="3">
                  <c:v>20s</c:v>
                </c:pt>
                <c:pt idx="4">
                  <c:v>50s</c:v>
                </c:pt>
                <c:pt idx="5">
                  <c:v>40s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</c:v>
                </c:pt>
                <c:pt idx="1">
                  <c:v>0.15000000000000002</c:v>
                </c:pt>
                <c:pt idx="2">
                  <c:v>0.25</c:v>
                </c:pt>
                <c:pt idx="3">
                  <c:v>0.25</c:v>
                </c:pt>
                <c:pt idx="4">
                  <c:v>0.26</c:v>
                </c:pt>
                <c:pt idx="5">
                  <c:v>0.26</c:v>
                </c:pt>
              </c:numCache>
            </c:numRef>
          </c:val>
        </c:ser>
        <c:dLbls>
          <c:showVal val="1"/>
        </c:dLbls>
        <c:axId val="12130560"/>
        <c:axId val="12132352"/>
      </c:barChart>
      <c:catAx>
        <c:axId val="1213056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132352"/>
        <c:crosses val="autoZero"/>
        <c:auto val="1"/>
        <c:lblAlgn val="ctr"/>
        <c:lblOffset val="100"/>
        <c:noMultiLvlLbl val="1"/>
      </c:catAx>
      <c:valAx>
        <c:axId val="12132352"/>
        <c:scaling>
          <c:orientation val="minMax"/>
        </c:scaling>
        <c:delete val="1"/>
        <c:axPos val="l"/>
        <c:numFmt formatCode="General" sourceLinked="0"/>
        <c:tickLblPos val="nextTo"/>
        <c:crossAx val="12130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spPr>
            <a:ln w="31750" cap="flat">
              <a:solidFill>
                <a:srgbClr val="6B5CA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B5CA5"/>
              </a:solidFill>
              <a:ln w="9525" cap="flat">
                <a:solidFill>
                  <a:srgbClr val="6B5C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Fall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331</c:v>
                </c:pt>
                <c:pt idx="1">
                  <c:v>314</c:v>
                </c:pt>
                <c:pt idx="2">
                  <c:v>302</c:v>
                </c:pt>
                <c:pt idx="3">
                  <c:v>283</c:v>
                </c:pt>
              </c:numCache>
            </c:numRef>
          </c:val>
        </c:ser>
        <c:dLbls>
          <c:showVal val="1"/>
        </c:dLbls>
        <c:marker val="1"/>
        <c:axId val="12192768"/>
        <c:axId val="12198656"/>
      </c:lineChart>
      <c:catAx>
        <c:axId val="1219276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2198656"/>
        <c:crosses val="autoZero"/>
        <c:auto val="1"/>
        <c:lblAlgn val="ctr"/>
        <c:lblOffset val="100"/>
        <c:noMultiLvlLbl val="1"/>
      </c:catAx>
      <c:valAx>
        <c:axId val="12198656"/>
        <c:scaling>
          <c:orientation val="minMax"/>
        </c:scaling>
        <c:delete val="1"/>
        <c:axPos val="l"/>
        <c:numFmt formatCode="General" sourceLinked="0"/>
        <c:tickLblPos val="nextTo"/>
        <c:crossAx val="12192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0C2D5C"/>
              </a:solidFill>
              <a:effectLst/>
            </c:spPr>
          </c:dPt>
          <c:dPt>
            <c:idx val="1"/>
            <c:spPr>
              <a:solidFill>
                <a:srgbClr val="E15554"/>
              </a:solidFill>
              <a:effectLst/>
            </c:spPr>
          </c:dPt>
          <c:dPt>
            <c:idx val="2"/>
            <c:spPr>
              <a:solidFill>
                <a:srgbClr val="028090"/>
              </a:solidFill>
              <a:effectLst/>
            </c:spPr>
          </c:dPt>
          <c:dLbls>
            <c:dLbl>
              <c:idx val="0"/>
              <c:layout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Val val="1"/>
            </c:dLbl>
            <c:dLbl>
              <c:idx val="1"/>
              <c:layout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Val val="1"/>
            </c:dLbl>
            <c:dLbl>
              <c:idx val="2"/>
              <c:layout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Val val="1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CatName val="1"/>
            <c:showPercent val="1"/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Low Value</c:v>
                </c:pt>
                <c:pt idx="2">
                  <c:v>Medium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</c:v>
                </c:pt>
                <c:pt idx="1">
                  <c:v>21.8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hart" Target="../charts/chart3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hart" Target="../charts/chart2.xm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image" Target="../media/image5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image" Target="../media/image8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81D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389120"/>
            <a:ext cx="2743200" cy="2743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4617720"/>
            <a:ext cx="2286000" cy="2286000"/>
          </a:xfrm>
          <a:prstGeom prst="ellipse">
            <a:avLst/>
          </a:prstGeom>
          <a:solidFill>
            <a:srgbClr val="0C2D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Marketing Recommendations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20116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69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Kabilan
</a:t>
            </a: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Datamites – Certified Data Analyst (CDA) Program
Power BI  ·  Python (KMeans)  ·  MySQL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&amp; goals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733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7804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1305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7,800</a:t>
            </a:r>
            <a:r>
              <a:rPr lang="en-US" sz="115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shoppers, Power BI + Python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8679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deserve discounts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4107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8679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season &amp; location impact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5166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6052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value clusters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51480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78040" y="5166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56052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 actions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Business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0C2D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should receive discounts, and why?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0C2D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Drivers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age, season, and location affect card spending?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0C2D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customers be grouped for targeted marketing campaigns?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project_shopping_trends
</a:t>
            </a: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r>
              <a:rPr lang="en-US" sz="1250" b="1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7,80</a:t>
            </a:r>
            <a:r>
              <a:rPr lang="en-US" sz="1250" b="1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5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shoppers
</a:t>
            </a: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Category, Purchase Amount, Location, Season, Rating, Discount, Payment Method, Frequency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3891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 &amp; de-duplicated (Power Query)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in Python for segmentation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output merged via Customer 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Power BI dashboard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ppt/icons/icon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4" y="159105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7276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3232" y="213055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98064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ppt/icons/icon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59105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62656" y="157276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$1.23M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962656" y="213055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47488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ppt/icons/icon_purc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59105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157276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$157.62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5212080" y="213055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296912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/home/claude/ppt/icons/icon_discou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16" y="15910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61504" y="157276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3,571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7461504" y="213055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Applied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546336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ppt/icons/icon_ra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0" y="1591056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10928" y="157276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2,984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9710928" y="213055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pic>
        <p:nvPicPr>
          <p:cNvPr id="24" name="Image 5" descr="/home/claude/ppt/icons/icon_categ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743200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50976" y="2715768"/>
            <a:ext cx="4169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4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57200" y="306324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27" name="Image 6" descr="/home/claude/ppt/icons/icon_gend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743200"/>
            <a:ext cx="310896" cy="31089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03136" y="2715768"/>
            <a:ext cx="4169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Gender</a:t>
            </a:r>
            <a:endParaRPr lang="en-US" sz="1400" dirty="0"/>
          </a:p>
        </p:txBody>
      </p:sp>
      <p:graphicFrame>
        <p:nvGraphicFramePr>
          <p:cNvPr id="29" name="Chart 1"/>
          <p:cNvGraphicFramePr/>
          <p:nvPr/>
        </p:nvGraphicFramePr>
        <p:xfrm>
          <a:off x="6400800" y="30632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30" name="Image 7" descr="/home/claude/ppt/icons/icon_sea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160" y="2743200"/>
            <a:ext cx="310896" cy="31089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683496" y="27157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Season</a:t>
            </a:r>
            <a:endParaRPr lang="en-US" sz="1400" dirty="0"/>
          </a:p>
        </p:txBody>
      </p:sp>
      <p:graphicFrame>
        <p:nvGraphicFramePr>
          <p:cNvPr id="32" name="Chart 2"/>
          <p:cNvGraphicFramePr/>
          <p:nvPr/>
        </p:nvGraphicFramePr>
        <p:xfrm>
          <a:off x="9144000" y="3063240"/>
          <a:ext cx="2834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3" name="Text 20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2800" dirty="0"/>
          </a:p>
        </p:txBody>
      </p:sp>
      <p:pic>
        <p:nvPicPr>
          <p:cNvPr id="4" name="Image 0" descr="/home/claude/ppt/icons/icon_dis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" y="120700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by Category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0020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Image 1" descr="/home/claude/ppt/icons/icon_ra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34440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03136" y="120700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Category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160020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Shape 4"/>
          <p:cNvSpPr/>
          <p:nvPr/>
        </p:nvSpPr>
        <p:spPr>
          <a:xfrm>
            <a:off x="457200" y="4434840"/>
            <a:ext cx="11521440" cy="1874520"/>
          </a:xfrm>
          <a:prstGeom prst="roundRect">
            <a:avLst>
              <a:gd name="adj" fmla="val 3415"/>
            </a:avLst>
          </a:prstGeom>
          <a:solidFill>
            <a:srgbClr val="F5F6FA"/>
          </a:solidFill>
          <a:ln/>
        </p:spPr>
      </p:sp>
      <p:sp>
        <p:nvSpPr>
          <p:cNvPr id="11" name="Text 5"/>
          <p:cNvSpPr/>
          <p:nvPr/>
        </p:nvSpPr>
        <p:spPr>
          <a:xfrm>
            <a:off x="731520" y="45902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731520" y="4937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Accessories discounts are working — continue. Footwear and Outerwear are highly rated but under-discounted; targeted promotions could unlock demand. Home Decor &amp; Electronics need quality/service fixes, not just deeper discounts.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Age, Season &amp; Payment Spending</a:t>
            </a:r>
            <a:endParaRPr lang="en-US" sz="2800" dirty="0"/>
          </a:p>
        </p:txBody>
      </p:sp>
      <p:pic>
        <p:nvPicPr>
          <p:cNvPr id="4" name="Image 0" descr="/home/claude/ppt/icons/icon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" y="120700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by Age Group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002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Image 1" descr="/home/claude/ppt/icons/icon_sea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34440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74536" y="120700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Season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172200" y="1600200"/>
          <a:ext cx="5806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Shape 4"/>
          <p:cNvSpPr/>
          <p:nvPr/>
        </p:nvSpPr>
        <p:spPr>
          <a:xfrm>
            <a:off x="457200" y="4526280"/>
            <a:ext cx="11521440" cy="1783080"/>
          </a:xfrm>
          <a:prstGeom prst="roundRect">
            <a:avLst>
              <a:gd name="adj" fmla="val 3590"/>
            </a:avLst>
          </a:prstGeom>
          <a:solidFill>
            <a:srgbClr val="F5F6FA"/>
          </a:solidFill>
          <a:ln/>
        </p:spPr>
      </p:sp>
      <p:sp>
        <p:nvSpPr>
          <p:cNvPr id="11" name="Text 5"/>
          <p:cNvSpPr/>
          <p:nvPr/>
        </p:nvSpPr>
        <p:spPr>
          <a:xfrm>
            <a:off x="731520" y="4681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731520" y="5029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spend on the 20–50 age bracket, which drives most revenue. Express &amp; Standard shipping dominate purchase value (~40% each). Spring is peak season — run pre-season promotions, then re-engagement campaigns to counter the 18% Summer dip.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800" dirty="0"/>
          </a:p>
        </p:txBody>
      </p:sp>
      <p:pic>
        <p:nvPicPr>
          <p:cNvPr id="4" name="Image 0" descr="/home/claude/ppt/icons/icon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" y="120700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Segments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00200"/>
          <a:ext cx="4297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029200" y="141732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5F6FA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0" y="1417320"/>
            <a:ext cx="109728" cy="1188720"/>
          </a:xfrm>
          <a:prstGeom prst="roundRect">
            <a:avLst/>
          </a:prstGeom>
          <a:solidFill>
            <a:srgbClr val="0C2D5C"/>
          </a:solidFill>
          <a:ln/>
        </p:spPr>
      </p:sp>
      <p:sp>
        <p:nvSpPr>
          <p:cNvPr id="9" name="Text 5"/>
          <p:cNvSpPr/>
          <p:nvPr/>
        </p:nvSpPr>
        <p:spPr>
          <a:xfrm>
            <a:off x="5349240" y="1527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4924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68.2%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223760" y="1581912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— loyalty programs, early access, personalized offers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0" y="278892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5F6FA"/>
          </a:solidFill>
          <a:ln/>
        </p:spPr>
      </p:sp>
      <p:sp>
        <p:nvSpPr>
          <p:cNvPr id="13" name="Shape 9"/>
          <p:cNvSpPr/>
          <p:nvPr/>
        </p:nvSpPr>
        <p:spPr>
          <a:xfrm>
            <a:off x="5029200" y="2788920"/>
            <a:ext cx="109728" cy="118872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5349240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223760" y="2953512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campaigns — bundles &amp; cross-sell to grow toward High Value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0" y="416052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5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4160520"/>
            <a:ext cx="109728" cy="1188720"/>
          </a:xfrm>
          <a:prstGeom prst="roundRect">
            <a:avLst/>
          </a:prstGeom>
          <a:solidFill>
            <a:srgbClr val="E15554"/>
          </a:solidFill>
          <a:ln/>
        </p:spPr>
      </p:sp>
      <p:sp>
        <p:nvSpPr>
          <p:cNvPr id="19" name="Text 15"/>
          <p:cNvSpPr/>
          <p:nvPr/>
        </p:nvSpPr>
        <p:spPr>
          <a:xfrm>
            <a:off x="5349240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4924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5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223760" y="4325112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— entry-level discounts, free shipping incentives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81D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Accessories lead sales and discount activity — keep the current strategy.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&amp; Outerwear are highly rated but underpromoted — an untapped growth lever.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29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comes from the 20–50 age group; Spring is the strongest season.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97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customers are already High Value — protect this base with retention offers.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Custom</PresentationFormat>
  <Paragraphs>111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Karthi Keyan</cp:lastModifiedBy>
  <cp:revision>2</cp:revision>
  <dcterms:created xsi:type="dcterms:W3CDTF">2026-07-10T06:05:23Z</dcterms:created>
  <dcterms:modified xsi:type="dcterms:W3CDTF">2026-07-10T06:09:02Z</dcterms:modified>
</cp:coreProperties>
</file>